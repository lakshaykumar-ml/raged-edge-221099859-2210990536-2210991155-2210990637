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44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3600" cy="73151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>
                <a:moveTo>
                  <a:pt x="9752466" y="893568"/>
                </a:moveTo>
                <a:lnTo>
                  <a:pt x="0" y="893568"/>
                </a:lnTo>
                <a:lnTo>
                  <a:pt x="0" y="0"/>
                </a:lnTo>
                <a:lnTo>
                  <a:pt x="9752466" y="0"/>
                </a:lnTo>
                <a:lnTo>
                  <a:pt x="9752466" y="89356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7151617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>
                <a:moveTo>
                  <a:pt x="9753218" y="163582"/>
                </a:moveTo>
                <a:lnTo>
                  <a:pt x="0" y="163582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9950" y="243840"/>
            <a:ext cx="2194178" cy="67703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9950" y="243840"/>
            <a:ext cx="2048168" cy="64965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89950" y="243840"/>
            <a:ext cx="2194178" cy="677036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6556419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>
                <a:moveTo>
                  <a:pt x="3197301" y="893568"/>
                </a:moveTo>
                <a:lnTo>
                  <a:pt x="0" y="893568"/>
                </a:lnTo>
                <a:lnTo>
                  <a:pt x="0" y="0"/>
                </a:lnTo>
                <a:lnTo>
                  <a:pt x="3197301" y="0"/>
                </a:lnTo>
                <a:lnTo>
                  <a:pt x="3197301" y="89356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89950" y="243840"/>
            <a:ext cx="2194178" cy="677036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6963070" y="203139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>
                <a:moveTo>
                  <a:pt x="2213408" y="731138"/>
                </a:moveTo>
                <a:lnTo>
                  <a:pt x="0" y="731138"/>
                </a:lnTo>
                <a:lnTo>
                  <a:pt x="0" y="0"/>
                </a:lnTo>
                <a:lnTo>
                  <a:pt x="2213408" y="0"/>
                </a:lnTo>
                <a:lnTo>
                  <a:pt x="2213408" y="7311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9950" y="243840"/>
            <a:ext cx="2048168" cy="6496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>
                <a:moveTo>
                  <a:pt x="9752466" y="893568"/>
                </a:moveTo>
                <a:lnTo>
                  <a:pt x="0" y="893568"/>
                </a:lnTo>
                <a:lnTo>
                  <a:pt x="0" y="0"/>
                </a:lnTo>
                <a:lnTo>
                  <a:pt x="9752466" y="0"/>
                </a:lnTo>
                <a:lnTo>
                  <a:pt x="9752466" y="89356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89950" y="243840"/>
            <a:ext cx="2194178" cy="6770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89950" y="243840"/>
            <a:ext cx="2048168" cy="6496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89950" y="243840"/>
            <a:ext cx="2194178" cy="67703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556419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>
                <a:moveTo>
                  <a:pt x="3197301" y="893568"/>
                </a:moveTo>
                <a:lnTo>
                  <a:pt x="0" y="893568"/>
                </a:lnTo>
                <a:lnTo>
                  <a:pt x="0" y="0"/>
                </a:lnTo>
                <a:lnTo>
                  <a:pt x="3197301" y="0"/>
                </a:lnTo>
                <a:lnTo>
                  <a:pt x="3197301" y="89356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89950" y="243840"/>
            <a:ext cx="2194178" cy="677036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6963070" y="203139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>
                <a:moveTo>
                  <a:pt x="2213408" y="731138"/>
                </a:moveTo>
                <a:lnTo>
                  <a:pt x="0" y="731138"/>
                </a:lnTo>
                <a:lnTo>
                  <a:pt x="0" y="0"/>
                </a:lnTo>
                <a:lnTo>
                  <a:pt x="2213408" y="0"/>
                </a:lnTo>
                <a:lnTo>
                  <a:pt x="2213408" y="7311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89950" y="243840"/>
            <a:ext cx="2048168" cy="649652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0" y="7151617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>
                <a:moveTo>
                  <a:pt x="9753218" y="163582"/>
                </a:moveTo>
                <a:lnTo>
                  <a:pt x="0" y="163582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6489" y="144367"/>
            <a:ext cx="5623559" cy="546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8827" y="1450079"/>
            <a:ext cx="3922395" cy="3589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88092" y="6864787"/>
            <a:ext cx="2286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2839" y="1143000"/>
            <a:ext cx="9148039" cy="484491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240"/>
              </a:lnSpc>
              <a:spcBef>
                <a:spcPts val="120"/>
              </a:spcBef>
            </a:pP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9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19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9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sz="19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9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9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sz="19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(Module-2)</a:t>
            </a:r>
            <a:r>
              <a:rPr sz="19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(22CS421)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420"/>
              </a:lnSpc>
            </a:pPr>
            <a:r>
              <a:rPr sz="2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spcBef>
                <a:spcPts val="175"/>
              </a:spcBef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the RAG Pipeline: An Empirical Evaluation of Chunking Strategies and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Reranking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across LLM Architectures</a:t>
            </a:r>
          </a:p>
          <a:p>
            <a:pPr marL="12700" marR="5080" algn="ctr">
              <a:lnSpc>
                <a:spcPts val="6080"/>
              </a:lnSpc>
              <a:spcBef>
                <a:spcPts val="175"/>
              </a:spcBef>
            </a:pPr>
            <a:r>
              <a:rPr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21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Members:</a:t>
            </a:r>
            <a:endParaRPr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Abhinav</a:t>
            </a:r>
            <a:r>
              <a:rPr sz="2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</a:t>
            </a:r>
            <a:r>
              <a:rPr sz="2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(2210991155),</a:t>
            </a:r>
            <a:r>
              <a:rPr sz="2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Lakshay</a:t>
            </a:r>
            <a:r>
              <a:rPr sz="21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sz="2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(2210990536)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240"/>
              </a:lnSpc>
              <a:spcBef>
                <a:spcPts val="80"/>
              </a:spcBef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Sneha</a:t>
            </a:r>
            <a:r>
              <a:rPr sz="2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</a:t>
            </a:r>
            <a:r>
              <a:rPr sz="2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(2210990859),</a:t>
            </a:r>
            <a:r>
              <a:rPr sz="2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Paras</a:t>
            </a:r>
            <a:r>
              <a:rPr sz="2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Kapoor</a:t>
            </a:r>
            <a:r>
              <a:rPr sz="2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(2210990637</a:t>
            </a:r>
            <a:r>
              <a:rPr sz="21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1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240"/>
              </a:lnSpc>
              <a:spcBef>
                <a:spcPts val="80"/>
              </a:spcBef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0304" marR="3703320" algn="ctr">
              <a:lnSpc>
                <a:spcPts val="2550"/>
              </a:lnSpc>
              <a:spcBef>
                <a:spcPts val="20"/>
              </a:spcBef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sz="21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100" spc="-2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0304" marR="3703320" algn="ctr">
              <a:lnSpc>
                <a:spcPts val="2550"/>
              </a:lnSpc>
              <a:spcBef>
                <a:spcPts val="20"/>
              </a:spcBef>
            </a:pPr>
            <a:r>
              <a:rPr lang="en-US" sz="21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Ms. </a:t>
            </a:r>
            <a:r>
              <a:rPr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Swati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spc="-2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Goel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1909" y="6096000"/>
            <a:ext cx="5549900" cy="7089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3020" marR="5080" indent="-1290955">
              <a:lnSpc>
                <a:spcPct val="125000"/>
              </a:lnSpc>
              <a:spcBef>
                <a:spcPts val="95"/>
              </a:spcBef>
            </a:pP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9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9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9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9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9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Engineering,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Chitkara</a:t>
            </a:r>
            <a:r>
              <a:rPr sz="19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University,</a:t>
            </a:r>
            <a:r>
              <a:rPr sz="19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92785" algn="ctr">
              <a:lnSpc>
                <a:spcPct val="100000"/>
              </a:lnSpc>
              <a:spcBef>
                <a:spcPts val="110"/>
              </a:spcBef>
            </a:pPr>
            <a:r>
              <a:rPr lang="en-US" dirty="0" smtClean="0"/>
              <a:t>Introduction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70245" y="6824164"/>
            <a:ext cx="10795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b="1" spc="-50" dirty="0">
                <a:latin typeface="Calibri"/>
                <a:cs typeface="Calibri"/>
              </a:rPr>
              <a:t>2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2669" y="1276915"/>
            <a:ext cx="4752974" cy="5534024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33400" y="1504770"/>
            <a:ext cx="3276600" cy="5078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 dynamic generation ensures Large Language Models (LLMs) use current, correct data, reducing hallucinations.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RAG performance is highly susceptible to design decisions (chunk sizes, retrieval depth) often based on heuristics, not systematic evidence.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Suboptimal configurations lead to poor answer quality and unnecessary computational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1145" algn="ctr">
              <a:lnSpc>
                <a:spcPct val="100000"/>
              </a:lnSpc>
              <a:spcBef>
                <a:spcPts val="110"/>
              </a:spcBef>
            </a:pPr>
            <a:r>
              <a:rPr lang="en-US" dirty="0" smtClean="0"/>
              <a:t>Problem Statement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0542" y="1116868"/>
            <a:ext cx="3905249" cy="58483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9600" y="2133600"/>
            <a:ext cx="3685511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There is a lack of systematic studies justifying RAG configuration choices.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The effects of retrieval noise, context truncation, and prompt strategies are underexplored.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Practitioners struggle to balance factual accuracy and computational efficiency without controlled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>
                <a:moveTo>
                  <a:pt x="9752466" y="893568"/>
                </a:moveTo>
                <a:lnTo>
                  <a:pt x="0" y="893568"/>
                </a:lnTo>
                <a:lnTo>
                  <a:pt x="0" y="0"/>
                </a:lnTo>
                <a:lnTo>
                  <a:pt x="9752466" y="0"/>
                </a:lnTo>
                <a:lnTo>
                  <a:pt x="9752466" y="89356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151617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>
                <a:moveTo>
                  <a:pt x="9753218" y="163582"/>
                </a:moveTo>
                <a:lnTo>
                  <a:pt x="0" y="163582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556419" y="0"/>
            <a:ext cx="3197860" cy="934719"/>
            <a:chOff x="6556419" y="0"/>
            <a:chExt cx="3197860" cy="93471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56419" y="0"/>
              <a:ext cx="3197860" cy="894080"/>
            </a:xfrm>
            <a:custGeom>
              <a:avLst/>
              <a:gdLst/>
              <a:ahLst/>
              <a:cxnLst/>
              <a:rect l="l" t="t" r="r" b="b"/>
              <a:pathLst>
                <a:path w="3197859" h="894080">
                  <a:moveTo>
                    <a:pt x="3197301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3197301" y="0"/>
                  </a:lnTo>
                  <a:lnTo>
                    <a:pt x="3197301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963070" y="203139"/>
              <a:ext cx="2213610" cy="731520"/>
            </a:xfrm>
            <a:custGeom>
              <a:avLst/>
              <a:gdLst/>
              <a:ahLst/>
              <a:cxnLst/>
              <a:rect l="l" t="t" r="r" b="b"/>
              <a:pathLst>
                <a:path w="2213609" h="731519">
                  <a:moveTo>
                    <a:pt x="2213408" y="731138"/>
                  </a:moveTo>
                  <a:lnTo>
                    <a:pt x="0" y="731138"/>
                  </a:lnTo>
                  <a:lnTo>
                    <a:pt x="0" y="0"/>
                  </a:lnTo>
                  <a:lnTo>
                    <a:pt x="2213408" y="0"/>
                  </a:lnTo>
                  <a:lnTo>
                    <a:pt x="2213408" y="731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dirty="0" smtClean="0"/>
              <a:t>Objective</a:t>
            </a:r>
            <a:endParaRPr spc="-10" dirty="0"/>
          </a:p>
        </p:txBody>
      </p:sp>
      <p:sp>
        <p:nvSpPr>
          <p:cNvPr id="15" name="object 15"/>
          <p:cNvSpPr txBox="1"/>
          <p:nvPr/>
        </p:nvSpPr>
        <p:spPr>
          <a:xfrm>
            <a:off x="836848" y="1509797"/>
            <a:ext cx="4478655" cy="3727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6050">
              <a:lnSpc>
                <a:spcPct val="100699"/>
              </a:lnSpc>
              <a:spcBef>
                <a:spcPts val="105"/>
              </a:spcBef>
            </a:pP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595326" y="1509797"/>
            <a:ext cx="6205883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Conduct a controlled experiment using 36 core configurations (chunking, retrieval depth,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reranking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, and prompt strategy).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Test 324 extended configurations to analyze interactions between noise injection and context windows.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Google Sans Tex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Provide evidence-based recommendations to maximize token-level F1 scores and minimize hallucinations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754279" cy="7315447"/>
            <a:chOff x="0" y="0"/>
            <a:chExt cx="9754279" cy="7315447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752965" cy="894080"/>
            </a:xfrm>
            <a:custGeom>
              <a:avLst/>
              <a:gdLst/>
              <a:ahLst/>
              <a:cxnLst/>
              <a:rect l="l" t="t" r="r" b="b"/>
              <a:pathLst>
                <a:path w="9752965" h="894080">
                  <a:moveTo>
                    <a:pt x="9752466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9752466" y="0"/>
                  </a:lnTo>
                  <a:lnTo>
                    <a:pt x="9752466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7151617"/>
              <a:ext cx="9753600" cy="163830"/>
            </a:xfrm>
            <a:custGeom>
              <a:avLst/>
              <a:gdLst/>
              <a:ahLst/>
              <a:cxnLst/>
              <a:rect l="l" t="t" r="r" b="b"/>
              <a:pathLst>
                <a:path w="9753600" h="163829">
                  <a:moveTo>
                    <a:pt x="9753218" y="163582"/>
                  </a:moveTo>
                  <a:lnTo>
                    <a:pt x="0" y="163582"/>
                  </a:lnTo>
                  <a:lnTo>
                    <a:pt x="0" y="0"/>
                  </a:lnTo>
                  <a:lnTo>
                    <a:pt x="9753218" y="0"/>
                  </a:lnTo>
                  <a:lnTo>
                    <a:pt x="9753218" y="1635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56419" y="0"/>
              <a:ext cx="3197860" cy="894080"/>
            </a:xfrm>
            <a:custGeom>
              <a:avLst/>
              <a:gdLst/>
              <a:ahLst/>
              <a:cxnLst/>
              <a:rect l="l" t="t" r="r" b="b"/>
              <a:pathLst>
                <a:path w="3197859" h="894080">
                  <a:moveTo>
                    <a:pt x="3197301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3197301" y="0"/>
                  </a:lnTo>
                  <a:lnTo>
                    <a:pt x="3197301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63070" y="203139"/>
              <a:ext cx="2213610" cy="731520"/>
            </a:xfrm>
            <a:custGeom>
              <a:avLst/>
              <a:gdLst/>
              <a:ahLst/>
              <a:cxnLst/>
              <a:rect l="l" t="t" r="r" b="b"/>
              <a:pathLst>
                <a:path w="2213609" h="731519">
                  <a:moveTo>
                    <a:pt x="2213408" y="731138"/>
                  </a:moveTo>
                  <a:lnTo>
                    <a:pt x="0" y="731138"/>
                  </a:lnTo>
                  <a:lnTo>
                    <a:pt x="0" y="0"/>
                  </a:lnTo>
                  <a:lnTo>
                    <a:pt x="2213408" y="0"/>
                  </a:lnTo>
                  <a:lnTo>
                    <a:pt x="2213408" y="731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96010">
              <a:lnSpc>
                <a:spcPct val="100000"/>
              </a:lnSpc>
              <a:spcBef>
                <a:spcPts val="110"/>
              </a:spcBef>
            </a:pPr>
            <a:r>
              <a:rPr dirty="0"/>
              <a:t>Experimental</a:t>
            </a:r>
            <a:r>
              <a:rPr spc="-95" dirty="0"/>
              <a:t> </a:t>
            </a:r>
            <a:r>
              <a:rPr spc="-10" dirty="0"/>
              <a:t>Setup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5800" y="1458369"/>
            <a:ext cx="7171690" cy="46811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8450" marR="90678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Chunk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Sizes: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128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vs.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256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tokens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(with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32-token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overlap). </a:t>
            </a:r>
            <a:endParaRPr lang="en-US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90678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n-US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90678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dirty="0" smtClean="0">
                <a:solidFill>
                  <a:schemeClr val="tx1"/>
                </a:solidFill>
                <a:latin typeface="Times New Roman"/>
                <a:cs typeface="Times New Roman"/>
              </a:rPr>
              <a:t>Retrieval</a:t>
            </a:r>
            <a:r>
              <a:rPr spc="1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Depth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(top-k):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3,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5,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and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r>
            <a:r>
              <a:rPr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 spc="-25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90678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29019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Reranking: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Cosine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similarity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only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vs.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Cross-encoder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reranking. </a:t>
            </a:r>
            <a:endParaRPr lang="en-US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29019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lang="en-US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29019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 smtClean="0">
                <a:solidFill>
                  <a:schemeClr val="tx1"/>
                </a:solidFill>
                <a:latin typeface="Times New Roman"/>
                <a:cs typeface="Times New Roman"/>
              </a:rPr>
              <a:t>Prompt</a:t>
            </a:r>
            <a:r>
              <a:rPr spc="1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Strategies: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Baseline,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Strict,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and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Citation</a:t>
            </a:r>
            <a:r>
              <a:rPr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29019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Noise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Levels: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0%,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30%,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and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60%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random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corpus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chunk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injection. </a:t>
            </a:r>
            <a:endParaRPr lang="en-US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lang="en-US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 smtClean="0">
                <a:solidFill>
                  <a:schemeClr val="tx1"/>
                </a:solidFill>
                <a:latin typeface="Times New Roman"/>
                <a:cs typeface="Times New Roman"/>
              </a:rPr>
              <a:t>Max</a:t>
            </a:r>
            <a:r>
              <a:rPr spc="2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Context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Window: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2,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3,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or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5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chunks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passed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to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the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chemeClr val="tx1"/>
                </a:solidFill>
                <a:latin typeface="Times New Roman"/>
                <a:cs typeface="Times New Roman"/>
              </a:rPr>
              <a:t>LLM.</a:t>
            </a: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10"/>
              </a:spcBef>
            </a:pPr>
            <a:r>
              <a:rPr dirty="0"/>
              <a:t>Core</a:t>
            </a:r>
            <a:r>
              <a:rPr spc="-30" dirty="0"/>
              <a:t> </a:t>
            </a:r>
            <a:r>
              <a:rPr dirty="0"/>
              <a:t>Results:</a:t>
            </a:r>
            <a:r>
              <a:rPr spc="-30" dirty="0"/>
              <a:t> </a:t>
            </a:r>
            <a:r>
              <a:rPr dirty="0"/>
              <a:t>Chunk</a:t>
            </a:r>
            <a:r>
              <a:rPr spc="-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Top-</a:t>
            </a:r>
            <a:r>
              <a:rPr spc="-50" dirty="0"/>
              <a:t>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613" y="1066800"/>
            <a:ext cx="8376284" cy="28232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12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Larger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Chunks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Win: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256-token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chunks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consistently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provided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4.7%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6.9% </a:t>
            </a:r>
            <a:r>
              <a:rPr dirty="0">
                <a:latin typeface="Times New Roman"/>
                <a:cs typeface="Times New Roman"/>
              </a:rPr>
              <a:t>F1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boost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over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128-token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segments</a:t>
            </a:r>
            <a:r>
              <a:rPr spc="-10" dirty="0" smtClean="0">
                <a:latin typeface="Times New Roman"/>
                <a:cs typeface="Times New Roman"/>
              </a:rPr>
              <a:t>.</a:t>
            </a:r>
            <a:endParaRPr lang="en-US" spc="-10" dirty="0" smtClean="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12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98450" marR="322580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Semantic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Coherence: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Larger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chunks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prevent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fragmentation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answers </a:t>
            </a:r>
            <a:r>
              <a:rPr dirty="0">
                <a:latin typeface="Times New Roman"/>
                <a:cs typeface="Times New Roman"/>
              </a:rPr>
              <a:t>across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boundaries</a:t>
            </a:r>
            <a:r>
              <a:rPr spc="-10" dirty="0" smtClean="0">
                <a:latin typeface="Times New Roman"/>
                <a:cs typeface="Times New Roman"/>
              </a:rPr>
              <a:t>.</a:t>
            </a:r>
            <a:endParaRPr lang="en-US" spc="-10" dirty="0" smtClean="0">
              <a:latin typeface="Times New Roman"/>
              <a:cs typeface="Times New Roman"/>
            </a:endParaRPr>
          </a:p>
          <a:p>
            <a:pPr marL="298450" marR="322580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98450" marR="501015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Optimal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Retrieval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(top-k):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Setting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k=3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5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Pareto-optimal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depth. </a:t>
            </a:r>
            <a:endParaRPr lang="en-US" spc="-10" dirty="0" smtClean="0">
              <a:latin typeface="Times New Roman"/>
              <a:cs typeface="Times New Roman"/>
            </a:endParaRPr>
          </a:p>
          <a:p>
            <a:pPr marL="298450" marR="501015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endParaRPr lang="en-US" spc="-10" dirty="0">
              <a:latin typeface="Times New Roman"/>
              <a:cs typeface="Times New Roman"/>
            </a:endParaRPr>
          </a:p>
          <a:p>
            <a:pPr marL="298450" marR="501015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r>
              <a:rPr dirty="0" smtClean="0">
                <a:latin typeface="Times New Roman"/>
                <a:cs typeface="Times New Roman"/>
              </a:rPr>
              <a:t>Diminishing</a:t>
            </a:r>
            <a:r>
              <a:rPr spc="25" dirty="0" smtClean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Returns: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Increasing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k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10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showed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negligible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F1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gains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and </a:t>
            </a:r>
            <a:r>
              <a:rPr dirty="0">
                <a:latin typeface="Times New Roman"/>
                <a:cs typeface="Times New Roman"/>
              </a:rPr>
              <a:t>slightly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decreased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performance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when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reranking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was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enabled.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827" y="4015468"/>
            <a:ext cx="3554069" cy="25641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600" y="4015467"/>
            <a:ext cx="3800297" cy="256413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10"/>
              </a:spcBef>
            </a:pPr>
            <a:r>
              <a:rPr dirty="0"/>
              <a:t>Prompt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Reranking</a:t>
            </a:r>
            <a:r>
              <a:rPr spc="-40" dirty="0"/>
              <a:t> </a:t>
            </a:r>
            <a:r>
              <a:rPr spc="-10" dirty="0"/>
              <a:t>Effects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143000"/>
            <a:ext cx="4705350" cy="54975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8450" marR="22352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Baseline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Prompt: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Maximized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token-</a:t>
            </a:r>
            <a:r>
              <a:rPr spc="-10" dirty="0">
                <a:latin typeface="Times New Roman"/>
                <a:cs typeface="Times New Roman"/>
              </a:rPr>
              <a:t>level </a:t>
            </a:r>
            <a:r>
              <a:rPr dirty="0">
                <a:latin typeface="Times New Roman"/>
                <a:cs typeface="Times New Roman"/>
              </a:rPr>
              <a:t>F1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at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0.72</a:t>
            </a:r>
            <a:r>
              <a:rPr spc="-20" dirty="0" smtClean="0">
                <a:latin typeface="Times New Roman"/>
                <a:cs typeface="Times New Roman"/>
              </a:rPr>
              <a:t>.</a:t>
            </a:r>
            <a:endParaRPr lang="en-US" spc="-20" dirty="0" smtClean="0">
              <a:latin typeface="Times New Roman"/>
              <a:cs typeface="Times New Roman"/>
            </a:endParaRPr>
          </a:p>
          <a:p>
            <a:pPr marL="298450" marR="22352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Strict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Prompt: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Reduced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F1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slightly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(-</a:t>
            </a:r>
            <a:r>
              <a:rPr spc="-10" dirty="0">
                <a:latin typeface="Times New Roman"/>
                <a:cs typeface="Times New Roman"/>
              </a:rPr>
              <a:t>6.4%) </a:t>
            </a:r>
            <a:r>
              <a:rPr dirty="0">
                <a:latin typeface="Times New Roman"/>
                <a:cs typeface="Times New Roman"/>
              </a:rPr>
              <a:t>but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significantly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lowered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hallucination rates</a:t>
            </a:r>
            <a:r>
              <a:rPr spc="-10" dirty="0" smtClean="0">
                <a:latin typeface="Times New Roman"/>
                <a:cs typeface="Times New Roman"/>
              </a:rPr>
              <a:t>.</a:t>
            </a:r>
            <a:endParaRPr lang="en-US" spc="-10" dirty="0" smtClean="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98450" marR="3492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Citation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Prompt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Collapse: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Caused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73.5% </a:t>
            </a:r>
            <a:r>
              <a:rPr dirty="0">
                <a:latin typeface="Times New Roman"/>
                <a:cs typeface="Times New Roman"/>
              </a:rPr>
              <a:t>F1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drop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due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metric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incompatibility </a:t>
            </a:r>
            <a:r>
              <a:rPr dirty="0">
                <a:latin typeface="Times New Roman"/>
                <a:cs typeface="Times New Roman"/>
              </a:rPr>
              <a:t>(extra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citation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tokens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penalized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score). </a:t>
            </a:r>
            <a:endParaRPr lang="en-US" spc="-10" dirty="0" smtClean="0">
              <a:latin typeface="Times New Roman"/>
              <a:cs typeface="Times New Roman"/>
            </a:endParaRPr>
          </a:p>
          <a:p>
            <a:pPr marL="298450" marR="3492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lang="en-US" spc="-10" dirty="0">
              <a:latin typeface="Times New Roman"/>
              <a:cs typeface="Times New Roman"/>
            </a:endParaRPr>
          </a:p>
          <a:p>
            <a:pPr marL="298450" marR="3492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 err="1" smtClean="0">
                <a:latin typeface="Times New Roman"/>
                <a:cs typeface="Times New Roman"/>
              </a:rPr>
              <a:t>Reranking</a:t>
            </a:r>
            <a:r>
              <a:rPr spc="30" dirty="0" smtClean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Reality: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Cross-</a:t>
            </a:r>
            <a:r>
              <a:rPr spc="-10" dirty="0">
                <a:latin typeface="Times New Roman"/>
                <a:cs typeface="Times New Roman"/>
              </a:rPr>
              <a:t>encoder </a:t>
            </a:r>
            <a:r>
              <a:rPr dirty="0">
                <a:latin typeface="Times New Roman"/>
                <a:cs typeface="Times New Roman"/>
              </a:rPr>
              <a:t>reranking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offered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zero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negligible </a:t>
            </a:r>
            <a:r>
              <a:rPr dirty="0">
                <a:latin typeface="Times New Roman"/>
                <a:cs typeface="Times New Roman"/>
              </a:rPr>
              <a:t>benefits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at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low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retrieval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depths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(k=3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5) </a:t>
            </a:r>
            <a:r>
              <a:rPr dirty="0">
                <a:latin typeface="Times New Roman"/>
                <a:cs typeface="Times New Roman"/>
              </a:rPr>
              <a:t>for extractive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tasks.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9055" y="1741019"/>
            <a:ext cx="4051113" cy="376870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>
              <a:lnSpc>
                <a:spcPts val="131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110"/>
              </a:spcBef>
            </a:pPr>
            <a:r>
              <a:rPr dirty="0"/>
              <a:t>Noise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Context</a:t>
            </a:r>
            <a:r>
              <a:rPr spc="-30" dirty="0"/>
              <a:t> </a:t>
            </a:r>
            <a:r>
              <a:rPr spc="-10" dirty="0"/>
              <a:t>Effects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0245" y="6824164"/>
            <a:ext cx="10795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b="1" spc="-50" dirty="0">
                <a:latin typeface="Calibri"/>
                <a:cs typeface="Calibri"/>
              </a:rPr>
              <a:t>8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562" y="1058351"/>
            <a:ext cx="5452567" cy="591854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8450" marR="508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The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Discovery: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Strict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prompting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combined </a:t>
            </a:r>
            <a:r>
              <a:rPr dirty="0">
                <a:latin typeface="Times New Roman"/>
                <a:cs typeface="Times New Roman"/>
              </a:rPr>
              <a:t>with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moderate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noise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(30%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60%) </a:t>
            </a:r>
            <a:r>
              <a:rPr dirty="0">
                <a:latin typeface="Times New Roman"/>
                <a:cs typeface="Times New Roman"/>
              </a:rPr>
              <a:t>unexpectedly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raised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F1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score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0.75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(the </a:t>
            </a:r>
            <a:r>
              <a:rPr dirty="0">
                <a:latin typeface="Times New Roman"/>
                <a:cs typeface="Times New Roman"/>
              </a:rPr>
              <a:t>study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maximum</a:t>
            </a:r>
            <a:r>
              <a:rPr spc="-10" dirty="0" smtClean="0">
                <a:latin typeface="Times New Roman"/>
                <a:cs typeface="Times New Roman"/>
              </a:rPr>
              <a:t>).</a:t>
            </a:r>
            <a:endParaRPr lang="en-US" spc="-10" dirty="0" smtClean="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98450" marR="5778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The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Mechanism: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Irrelevant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chunks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force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the </a:t>
            </a:r>
            <a:r>
              <a:rPr spc="-10" dirty="0">
                <a:latin typeface="Times New Roman"/>
                <a:cs typeface="Times New Roman"/>
              </a:rPr>
              <a:t>strict-</a:t>
            </a:r>
            <a:r>
              <a:rPr dirty="0">
                <a:latin typeface="Times New Roman"/>
                <a:cs typeface="Times New Roman"/>
              </a:rPr>
              <a:t>prompted</a:t>
            </a:r>
            <a:r>
              <a:rPr spc="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model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produce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much </a:t>
            </a:r>
            <a:r>
              <a:rPr dirty="0">
                <a:latin typeface="Times New Roman"/>
                <a:cs typeface="Times New Roman"/>
              </a:rPr>
              <a:t>shorter,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highly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extractive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answers</a:t>
            </a:r>
            <a:r>
              <a:rPr spc="-10" dirty="0" smtClean="0">
                <a:latin typeface="Times New Roman"/>
                <a:cs typeface="Times New Roman"/>
              </a:rPr>
              <a:t>.</a:t>
            </a:r>
            <a:endParaRPr lang="en-US" spc="-10" dirty="0" smtClean="0">
              <a:latin typeface="Times New Roman"/>
              <a:cs typeface="Times New Roman"/>
            </a:endParaRPr>
          </a:p>
          <a:p>
            <a:pPr marL="298450" marR="5778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98450" marR="4191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Average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Answer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Length: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Dropped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from </a:t>
            </a:r>
            <a:r>
              <a:rPr dirty="0">
                <a:latin typeface="Times New Roman"/>
                <a:cs typeface="Times New Roman"/>
              </a:rPr>
              <a:t>approximately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30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tokens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2.7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tokens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under </a:t>
            </a:r>
            <a:r>
              <a:rPr dirty="0">
                <a:latin typeface="Times New Roman"/>
                <a:cs typeface="Times New Roman"/>
              </a:rPr>
              <a:t>these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conditions</a:t>
            </a:r>
            <a:r>
              <a:rPr spc="-10" dirty="0" smtClean="0">
                <a:latin typeface="Times New Roman"/>
                <a:cs typeface="Times New Roman"/>
              </a:rPr>
              <a:t>.</a:t>
            </a:r>
            <a:endParaRPr lang="en-US" spc="-10" dirty="0" smtClean="0">
              <a:latin typeface="Times New Roman"/>
              <a:cs typeface="Times New Roman"/>
            </a:endParaRPr>
          </a:p>
          <a:p>
            <a:pPr marL="298450" marR="4191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98450" marR="960119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/>
                <a:cs typeface="Times New Roman"/>
              </a:rPr>
              <a:t>Takeaway: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Noise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acts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implicit </a:t>
            </a:r>
            <a:r>
              <a:rPr dirty="0">
                <a:latin typeface="Times New Roman"/>
                <a:cs typeface="Times New Roman"/>
              </a:rPr>
              <a:t>regularizer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when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paired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with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 smtClean="0">
                <a:latin typeface="Times New Roman"/>
                <a:cs typeface="Times New Roman"/>
              </a:rPr>
              <a:t>strict</a:t>
            </a:r>
            <a:r>
              <a:rPr lang="en-US" spc="-10" dirty="0" smtClean="0">
                <a:latin typeface="Times New Roman"/>
                <a:cs typeface="Times New Roman"/>
              </a:rPr>
              <a:t> instructions.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8614" y="999940"/>
            <a:ext cx="3716652" cy="27824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9129" y="3969277"/>
            <a:ext cx="3896063" cy="32000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>
                <a:moveTo>
                  <a:pt x="9752466" y="893568"/>
                </a:moveTo>
                <a:lnTo>
                  <a:pt x="0" y="893568"/>
                </a:lnTo>
                <a:lnTo>
                  <a:pt x="0" y="0"/>
                </a:lnTo>
                <a:lnTo>
                  <a:pt x="9752466" y="0"/>
                </a:lnTo>
                <a:lnTo>
                  <a:pt x="9752466" y="89356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151617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>
                <a:moveTo>
                  <a:pt x="9753218" y="163582"/>
                </a:moveTo>
                <a:lnTo>
                  <a:pt x="0" y="163582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556419" y="0"/>
            <a:ext cx="3197860" cy="934719"/>
            <a:chOff x="6556419" y="0"/>
            <a:chExt cx="3197860" cy="93471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56419" y="0"/>
              <a:ext cx="3197860" cy="894080"/>
            </a:xfrm>
            <a:custGeom>
              <a:avLst/>
              <a:gdLst/>
              <a:ahLst/>
              <a:cxnLst/>
              <a:rect l="l" t="t" r="r" b="b"/>
              <a:pathLst>
                <a:path w="3197859" h="894080">
                  <a:moveTo>
                    <a:pt x="3197301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3197301" y="0"/>
                  </a:lnTo>
                  <a:lnTo>
                    <a:pt x="3197301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963070" y="203139"/>
              <a:ext cx="2213610" cy="731520"/>
            </a:xfrm>
            <a:custGeom>
              <a:avLst/>
              <a:gdLst/>
              <a:ahLst/>
              <a:cxnLst/>
              <a:rect l="l" t="t" r="r" b="b"/>
              <a:pathLst>
                <a:path w="2213609" h="731519">
                  <a:moveTo>
                    <a:pt x="2213408" y="731138"/>
                  </a:moveTo>
                  <a:lnTo>
                    <a:pt x="0" y="731138"/>
                  </a:lnTo>
                  <a:lnTo>
                    <a:pt x="0" y="0"/>
                  </a:lnTo>
                  <a:lnTo>
                    <a:pt x="2213408" y="0"/>
                  </a:lnTo>
                  <a:lnTo>
                    <a:pt x="2213408" y="731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95638" y="148016"/>
            <a:ext cx="6934199" cy="557204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113790" marR="5080" indent="-1101725">
              <a:lnSpc>
                <a:spcPts val="4050"/>
              </a:lnSpc>
              <a:spcBef>
                <a:spcPts val="245"/>
              </a:spcBef>
            </a:pPr>
            <a:r>
              <a:rPr dirty="0"/>
              <a:t>Gemma</a:t>
            </a:r>
            <a:r>
              <a:rPr spc="-25" dirty="0"/>
              <a:t> </a:t>
            </a:r>
            <a:r>
              <a:rPr dirty="0"/>
              <a:t>vs</a:t>
            </a:r>
            <a:r>
              <a:rPr spc="-15" dirty="0"/>
              <a:t> </a:t>
            </a:r>
            <a:r>
              <a:rPr dirty="0"/>
              <a:t>LLaMA</a:t>
            </a:r>
            <a:r>
              <a:rPr spc="-15" dirty="0"/>
              <a:t> </a:t>
            </a:r>
            <a:r>
              <a:rPr spc="-10" dirty="0"/>
              <a:t>Pilot Comparison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xfrm>
            <a:off x="762000" y="1752600"/>
            <a:ext cx="3922395" cy="39422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125730" indent="-285750">
              <a:lnSpc>
                <a:spcPct val="1012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800" dirty="0"/>
              <a:t>Performance</a:t>
            </a:r>
            <a:r>
              <a:rPr sz="1800" spc="45" dirty="0"/>
              <a:t> </a:t>
            </a:r>
            <a:r>
              <a:rPr sz="1800" dirty="0"/>
              <a:t>Comparison:</a:t>
            </a:r>
            <a:r>
              <a:rPr sz="1800" spc="45" dirty="0"/>
              <a:t> </a:t>
            </a:r>
            <a:r>
              <a:rPr sz="1800" spc="-10" dirty="0"/>
              <a:t>Gemma </a:t>
            </a:r>
            <a:r>
              <a:rPr sz="1800" dirty="0"/>
              <a:t>3:12b</a:t>
            </a:r>
            <a:r>
              <a:rPr sz="1800" spc="15" dirty="0"/>
              <a:t> </a:t>
            </a:r>
            <a:r>
              <a:rPr sz="1800" dirty="0"/>
              <a:t>peaked</a:t>
            </a:r>
            <a:r>
              <a:rPr sz="1800" spc="15" dirty="0"/>
              <a:t> </a:t>
            </a:r>
            <a:r>
              <a:rPr sz="1800" dirty="0"/>
              <a:t>at</a:t>
            </a:r>
            <a:r>
              <a:rPr sz="1800" spc="20" dirty="0"/>
              <a:t> </a:t>
            </a:r>
            <a:r>
              <a:rPr sz="1800" dirty="0"/>
              <a:t>an</a:t>
            </a:r>
            <a:r>
              <a:rPr sz="1800" spc="15" dirty="0"/>
              <a:t> </a:t>
            </a:r>
            <a:r>
              <a:rPr sz="1800" dirty="0"/>
              <a:t>F1</a:t>
            </a:r>
            <a:r>
              <a:rPr sz="1800" spc="15" dirty="0"/>
              <a:t> </a:t>
            </a:r>
            <a:r>
              <a:rPr sz="1800" dirty="0"/>
              <a:t>of</a:t>
            </a:r>
            <a:r>
              <a:rPr sz="1800" spc="20" dirty="0"/>
              <a:t> </a:t>
            </a:r>
            <a:r>
              <a:rPr sz="1800" spc="-10" dirty="0"/>
              <a:t>0.72</a:t>
            </a:r>
            <a:r>
              <a:rPr sz="1800" spc="-10" dirty="0" smtClean="0"/>
              <a:t>.</a:t>
            </a:r>
            <a:endParaRPr lang="en-US" sz="1800" spc="-10" dirty="0" smtClean="0"/>
          </a:p>
          <a:p>
            <a:pPr marL="298450" marR="125730" indent="-285750">
              <a:lnSpc>
                <a:spcPct val="1012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1800" spc="-10" dirty="0"/>
          </a:p>
          <a:p>
            <a:pPr marL="298450" marR="155575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r>
              <a:rPr sz="1800" dirty="0"/>
              <a:t>Pilot</a:t>
            </a:r>
            <a:r>
              <a:rPr sz="1800" spc="30" dirty="0"/>
              <a:t> </a:t>
            </a:r>
            <a:r>
              <a:rPr sz="1800" dirty="0"/>
              <a:t>Performance:</a:t>
            </a:r>
            <a:r>
              <a:rPr sz="1800" spc="30" dirty="0"/>
              <a:t> </a:t>
            </a:r>
            <a:r>
              <a:rPr sz="1800" dirty="0"/>
              <a:t>LLaMA</a:t>
            </a:r>
            <a:r>
              <a:rPr sz="1800" spc="30" dirty="0"/>
              <a:t> </a:t>
            </a:r>
            <a:r>
              <a:rPr sz="1800" spc="-10" dirty="0"/>
              <a:t>3.2:3b </a:t>
            </a:r>
            <a:r>
              <a:rPr sz="1800" dirty="0"/>
              <a:t>peaked</a:t>
            </a:r>
            <a:r>
              <a:rPr sz="1800" spc="15" dirty="0"/>
              <a:t> </a:t>
            </a:r>
            <a:r>
              <a:rPr sz="1800" dirty="0"/>
              <a:t>at</a:t>
            </a:r>
            <a:r>
              <a:rPr sz="1800" spc="15" dirty="0"/>
              <a:t> </a:t>
            </a:r>
            <a:r>
              <a:rPr sz="1800" dirty="0"/>
              <a:t>an</a:t>
            </a:r>
            <a:r>
              <a:rPr sz="1800" spc="15" dirty="0"/>
              <a:t> </a:t>
            </a:r>
            <a:r>
              <a:rPr sz="1800" dirty="0"/>
              <a:t>F1</a:t>
            </a:r>
            <a:r>
              <a:rPr sz="1800" spc="15" dirty="0"/>
              <a:t> </a:t>
            </a:r>
            <a:r>
              <a:rPr sz="1800" dirty="0"/>
              <a:t>of</a:t>
            </a:r>
            <a:r>
              <a:rPr sz="1800" spc="15" dirty="0"/>
              <a:t> </a:t>
            </a:r>
            <a:r>
              <a:rPr sz="1800" dirty="0"/>
              <a:t>only</a:t>
            </a:r>
            <a:r>
              <a:rPr sz="1800" spc="15" dirty="0"/>
              <a:t> </a:t>
            </a:r>
            <a:r>
              <a:rPr sz="1800" spc="-20" dirty="0"/>
              <a:t>0.35</a:t>
            </a:r>
            <a:r>
              <a:rPr sz="1800" spc="-20" dirty="0" smtClean="0"/>
              <a:t>.</a:t>
            </a:r>
            <a:endParaRPr lang="en-US" sz="1800" spc="-20" dirty="0" smtClean="0"/>
          </a:p>
          <a:p>
            <a:pPr marL="298450" marR="155575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endParaRPr sz="1800" spc="-20" dirty="0"/>
          </a:p>
          <a:p>
            <a:pPr marL="298450" marR="5080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r>
              <a:rPr sz="1800" dirty="0"/>
              <a:t>Instruction</a:t>
            </a:r>
            <a:r>
              <a:rPr sz="1800" spc="15" dirty="0"/>
              <a:t> </a:t>
            </a:r>
            <a:r>
              <a:rPr sz="1800" dirty="0"/>
              <a:t>Fidelity:</a:t>
            </a:r>
            <a:r>
              <a:rPr sz="1800" spc="15" dirty="0"/>
              <a:t> </a:t>
            </a:r>
            <a:r>
              <a:rPr sz="1800" dirty="0"/>
              <a:t>The</a:t>
            </a:r>
            <a:r>
              <a:rPr sz="1800" spc="20" dirty="0"/>
              <a:t> </a:t>
            </a:r>
            <a:r>
              <a:rPr sz="1800" dirty="0"/>
              <a:t>smaller</a:t>
            </a:r>
            <a:r>
              <a:rPr sz="1800" spc="15" dirty="0"/>
              <a:t> </a:t>
            </a:r>
            <a:r>
              <a:rPr sz="1800" spc="-25" dirty="0"/>
              <a:t>3B </a:t>
            </a:r>
            <a:r>
              <a:rPr sz="1800" dirty="0"/>
              <a:t>model</a:t>
            </a:r>
            <a:r>
              <a:rPr sz="1800" spc="20" dirty="0"/>
              <a:t> </a:t>
            </a:r>
            <a:r>
              <a:rPr sz="1800" dirty="0"/>
              <a:t>struggled</a:t>
            </a:r>
            <a:r>
              <a:rPr sz="1800" spc="20" dirty="0"/>
              <a:t> </a:t>
            </a:r>
            <a:r>
              <a:rPr sz="1800" dirty="0"/>
              <a:t>significantly</a:t>
            </a:r>
            <a:r>
              <a:rPr sz="1800" spc="20" dirty="0"/>
              <a:t> </a:t>
            </a:r>
            <a:r>
              <a:rPr sz="1800" spc="-20" dirty="0"/>
              <a:t>with </a:t>
            </a:r>
            <a:r>
              <a:rPr sz="1800" dirty="0"/>
              <a:t>strict and</a:t>
            </a:r>
            <a:r>
              <a:rPr sz="1800" spc="5" dirty="0"/>
              <a:t> </a:t>
            </a:r>
            <a:r>
              <a:rPr sz="1800" dirty="0"/>
              <a:t>citation</a:t>
            </a:r>
            <a:r>
              <a:rPr sz="1800" spc="5" dirty="0"/>
              <a:t> </a:t>
            </a:r>
            <a:r>
              <a:rPr sz="1800" spc="-10" dirty="0"/>
              <a:t>prompts</a:t>
            </a:r>
            <a:r>
              <a:rPr sz="1800" spc="-10" dirty="0" smtClean="0"/>
              <a:t>.</a:t>
            </a:r>
            <a:endParaRPr lang="en-US" sz="1800" spc="-10" dirty="0" smtClean="0"/>
          </a:p>
          <a:p>
            <a:pPr marL="298450" marR="5080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endParaRPr sz="1800" spc="-10" dirty="0"/>
          </a:p>
          <a:p>
            <a:pPr marL="298450" marR="35560" indent="-285750">
              <a:lnSpc>
                <a:spcPct val="101200"/>
              </a:lnSpc>
              <a:buFont typeface="Arial" panose="020B0604020202020204" pitchFamily="34" charset="0"/>
              <a:buChar char="•"/>
            </a:pPr>
            <a:r>
              <a:rPr sz="1800" dirty="0"/>
              <a:t>Conclusion:</a:t>
            </a:r>
            <a:r>
              <a:rPr sz="1800" spc="25" dirty="0"/>
              <a:t> </a:t>
            </a:r>
            <a:r>
              <a:rPr sz="1800" dirty="0"/>
              <a:t>Compact</a:t>
            </a:r>
            <a:r>
              <a:rPr sz="1800" spc="30" dirty="0"/>
              <a:t> </a:t>
            </a:r>
            <a:r>
              <a:rPr sz="1800" dirty="0"/>
              <a:t>3B</a:t>
            </a:r>
            <a:r>
              <a:rPr sz="1800" spc="30" dirty="0"/>
              <a:t> </a:t>
            </a:r>
            <a:r>
              <a:rPr sz="1800" spc="-10" dirty="0"/>
              <a:t>models </a:t>
            </a:r>
            <a:r>
              <a:rPr sz="1800" dirty="0"/>
              <a:t>may</a:t>
            </a:r>
            <a:r>
              <a:rPr sz="1800" spc="15" dirty="0"/>
              <a:t> </a:t>
            </a:r>
            <a:r>
              <a:rPr sz="1800" dirty="0"/>
              <a:t>be</a:t>
            </a:r>
            <a:r>
              <a:rPr sz="1800" spc="20" dirty="0"/>
              <a:t> </a:t>
            </a:r>
            <a:r>
              <a:rPr sz="1800" dirty="0"/>
              <a:t>insufficient</a:t>
            </a:r>
            <a:r>
              <a:rPr sz="1800" spc="20" dirty="0"/>
              <a:t> </a:t>
            </a:r>
            <a:r>
              <a:rPr sz="1800" dirty="0"/>
              <a:t>for</a:t>
            </a:r>
            <a:r>
              <a:rPr sz="1800" spc="20" dirty="0"/>
              <a:t> </a:t>
            </a:r>
            <a:r>
              <a:rPr sz="1800" dirty="0"/>
              <a:t>high-</a:t>
            </a:r>
            <a:r>
              <a:rPr sz="1800" spc="-10" dirty="0"/>
              <a:t>quality </a:t>
            </a:r>
            <a:r>
              <a:rPr sz="1800" dirty="0"/>
              <a:t>extractive</a:t>
            </a:r>
            <a:r>
              <a:rPr sz="1800" spc="10" dirty="0"/>
              <a:t> </a:t>
            </a:r>
            <a:r>
              <a:rPr sz="1800" dirty="0"/>
              <a:t>RAG;</a:t>
            </a:r>
            <a:r>
              <a:rPr sz="1800" spc="10" dirty="0"/>
              <a:t> </a:t>
            </a:r>
            <a:r>
              <a:rPr sz="1800" dirty="0"/>
              <a:t>scale</a:t>
            </a:r>
            <a:r>
              <a:rPr sz="1800" spc="15" dirty="0"/>
              <a:t> </a:t>
            </a:r>
            <a:r>
              <a:rPr sz="1800" dirty="0"/>
              <a:t>remains</a:t>
            </a:r>
            <a:r>
              <a:rPr sz="1800" spc="10" dirty="0"/>
              <a:t> </a:t>
            </a:r>
            <a:r>
              <a:rPr sz="1800" spc="-50" dirty="0"/>
              <a:t>a </a:t>
            </a:r>
            <a:r>
              <a:rPr sz="1800" dirty="0"/>
              <a:t>critical</a:t>
            </a:r>
            <a:r>
              <a:rPr sz="1800" spc="-25" dirty="0"/>
              <a:t> </a:t>
            </a:r>
            <a:r>
              <a:rPr sz="1800" spc="-10" dirty="0"/>
              <a:t>factor.</a:t>
            </a: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98080" y="1091050"/>
            <a:ext cx="3805508" cy="280677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07473" y="3974806"/>
            <a:ext cx="4199963" cy="2996151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32" y="0"/>
            <a:ext cx="9754279" cy="7315447"/>
            <a:chOff x="0" y="0"/>
            <a:chExt cx="9754279" cy="7315447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752965" cy="894080"/>
            </a:xfrm>
            <a:custGeom>
              <a:avLst/>
              <a:gdLst/>
              <a:ahLst/>
              <a:cxnLst/>
              <a:rect l="l" t="t" r="r" b="b"/>
              <a:pathLst>
                <a:path w="9752965" h="894080">
                  <a:moveTo>
                    <a:pt x="9752466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9752466" y="0"/>
                  </a:lnTo>
                  <a:lnTo>
                    <a:pt x="9752466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7151617"/>
              <a:ext cx="9753600" cy="163830"/>
            </a:xfrm>
            <a:custGeom>
              <a:avLst/>
              <a:gdLst/>
              <a:ahLst/>
              <a:cxnLst/>
              <a:rect l="l" t="t" r="r" b="b"/>
              <a:pathLst>
                <a:path w="9753600" h="163829">
                  <a:moveTo>
                    <a:pt x="9753218" y="163582"/>
                  </a:moveTo>
                  <a:lnTo>
                    <a:pt x="0" y="163582"/>
                  </a:lnTo>
                  <a:lnTo>
                    <a:pt x="0" y="0"/>
                  </a:lnTo>
                  <a:lnTo>
                    <a:pt x="9753218" y="0"/>
                  </a:lnTo>
                  <a:lnTo>
                    <a:pt x="9753218" y="1635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56419" y="0"/>
              <a:ext cx="3197860" cy="894080"/>
            </a:xfrm>
            <a:custGeom>
              <a:avLst/>
              <a:gdLst/>
              <a:ahLst/>
              <a:cxnLst/>
              <a:rect l="l" t="t" r="r" b="b"/>
              <a:pathLst>
                <a:path w="3197859" h="894080">
                  <a:moveTo>
                    <a:pt x="3197301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3197301" y="0"/>
                  </a:lnTo>
                  <a:lnTo>
                    <a:pt x="3197301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63070" y="203139"/>
              <a:ext cx="2213610" cy="731520"/>
            </a:xfrm>
            <a:custGeom>
              <a:avLst/>
              <a:gdLst/>
              <a:ahLst/>
              <a:cxnLst/>
              <a:rect l="l" t="t" r="r" b="b"/>
              <a:pathLst>
                <a:path w="2213609" h="731519">
                  <a:moveTo>
                    <a:pt x="2213408" y="731138"/>
                  </a:moveTo>
                  <a:lnTo>
                    <a:pt x="0" y="731138"/>
                  </a:lnTo>
                  <a:lnTo>
                    <a:pt x="0" y="0"/>
                  </a:lnTo>
                  <a:lnTo>
                    <a:pt x="2213408" y="0"/>
                  </a:lnTo>
                  <a:lnTo>
                    <a:pt x="2213408" y="731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110"/>
              </a:spcBef>
            </a:pPr>
            <a:r>
              <a:rPr dirty="0"/>
              <a:t>Practical</a:t>
            </a:r>
            <a:r>
              <a:rPr spc="-80" dirty="0"/>
              <a:t> </a:t>
            </a:r>
            <a:r>
              <a:rPr spc="-10" dirty="0"/>
              <a:t>Recommendations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725804" y="1309058"/>
            <a:ext cx="76200" cy="1047750"/>
            <a:chOff x="725804" y="1309058"/>
            <a:chExt cx="76200" cy="104775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5804" y="1309058"/>
              <a:ext cx="76200" cy="761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5804" y="1794833"/>
              <a:ext cx="76200" cy="761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5804" y="2280608"/>
              <a:ext cx="76200" cy="76199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5804" y="3252158"/>
            <a:ext cx="76200" cy="761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5804" y="4223708"/>
            <a:ext cx="76200" cy="761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86489" y="1518572"/>
            <a:ext cx="7847965" cy="4655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8450" marR="1605915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Chunk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Strategy: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Use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256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tokens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with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a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32-token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overlap.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Retrieval:</a:t>
            </a:r>
            <a:r>
              <a:rPr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Cap</a:t>
            </a:r>
            <a:r>
              <a:rPr spc="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retrieval</a:t>
            </a:r>
            <a:r>
              <a:rPr spc="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depth</a:t>
            </a:r>
            <a:r>
              <a:rPr spc="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at</a:t>
            </a:r>
            <a:r>
              <a:rPr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k=3</a:t>
            </a:r>
            <a:r>
              <a:rPr spc="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or</a:t>
            </a:r>
            <a:r>
              <a:rPr spc="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chemeClr val="tx1"/>
                </a:solidFill>
                <a:latin typeface="Times New Roman"/>
                <a:cs typeface="Times New Roman"/>
              </a:rPr>
              <a:t>5</a:t>
            </a:r>
            <a:r>
              <a:rPr spc="-25" dirty="0" smtClean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 spc="-25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1605915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Efficiency: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Disable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cross-encoder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reranking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unless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the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candidate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pool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chemeClr val="tx1"/>
                </a:solidFill>
                <a:latin typeface="Times New Roman"/>
                <a:cs typeface="Times New Roman"/>
              </a:rPr>
              <a:t>is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exceptionally</a:t>
            </a:r>
            <a:r>
              <a:rPr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large</a:t>
            </a:r>
            <a:r>
              <a:rPr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and</a:t>
            </a:r>
            <a:r>
              <a:rPr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diverse</a:t>
            </a:r>
            <a:r>
              <a:rPr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5244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Prompting: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Use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Baseline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prompts</a:t>
            </a:r>
            <a:r>
              <a:rPr spc="3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for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maximum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F1,</a:t>
            </a:r>
            <a:r>
              <a:rPr spc="3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or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Strict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prompts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chemeClr val="tx1"/>
                </a:solidFill>
                <a:latin typeface="Times New Roman"/>
                <a:cs typeface="Times New Roman"/>
              </a:rPr>
              <a:t>if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hallucination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control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is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your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primary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constraint</a:t>
            </a:r>
            <a:r>
              <a:rPr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5244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48895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Model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Selection: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Budget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for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12B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parameter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models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over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3B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models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chemeClr val="tx1"/>
                </a:solidFill>
                <a:latin typeface="Times New Roman"/>
                <a:cs typeface="Times New Roman"/>
              </a:rPr>
              <a:t>for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reliable</a:t>
            </a:r>
            <a:r>
              <a:rPr spc="-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extraction.</a:t>
            </a: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754279" cy="7315447"/>
            <a:chOff x="0" y="0"/>
            <a:chExt cx="9754279" cy="7315447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752965" cy="894080"/>
            </a:xfrm>
            <a:custGeom>
              <a:avLst/>
              <a:gdLst/>
              <a:ahLst/>
              <a:cxnLst/>
              <a:rect l="l" t="t" r="r" b="b"/>
              <a:pathLst>
                <a:path w="9752965" h="894080">
                  <a:moveTo>
                    <a:pt x="9752466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9752466" y="0"/>
                  </a:lnTo>
                  <a:lnTo>
                    <a:pt x="9752466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7151617"/>
              <a:ext cx="9753600" cy="163830"/>
            </a:xfrm>
            <a:custGeom>
              <a:avLst/>
              <a:gdLst/>
              <a:ahLst/>
              <a:cxnLst/>
              <a:rect l="l" t="t" r="r" b="b"/>
              <a:pathLst>
                <a:path w="9753600" h="163829">
                  <a:moveTo>
                    <a:pt x="9753218" y="163582"/>
                  </a:moveTo>
                  <a:lnTo>
                    <a:pt x="0" y="163582"/>
                  </a:lnTo>
                  <a:lnTo>
                    <a:pt x="0" y="0"/>
                  </a:lnTo>
                  <a:lnTo>
                    <a:pt x="9753218" y="0"/>
                  </a:lnTo>
                  <a:lnTo>
                    <a:pt x="9753218" y="1635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56419" y="0"/>
              <a:ext cx="3197860" cy="894080"/>
            </a:xfrm>
            <a:custGeom>
              <a:avLst/>
              <a:gdLst/>
              <a:ahLst/>
              <a:cxnLst/>
              <a:rect l="l" t="t" r="r" b="b"/>
              <a:pathLst>
                <a:path w="3197859" h="894080">
                  <a:moveTo>
                    <a:pt x="3197301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3197301" y="0"/>
                  </a:lnTo>
                  <a:lnTo>
                    <a:pt x="3197301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63070" y="203139"/>
              <a:ext cx="2213610" cy="731520"/>
            </a:xfrm>
            <a:custGeom>
              <a:avLst/>
              <a:gdLst/>
              <a:ahLst/>
              <a:cxnLst/>
              <a:rect l="l" t="t" r="r" b="b"/>
              <a:pathLst>
                <a:path w="2213609" h="731519">
                  <a:moveTo>
                    <a:pt x="2213408" y="731138"/>
                  </a:moveTo>
                  <a:lnTo>
                    <a:pt x="0" y="731138"/>
                  </a:lnTo>
                  <a:lnTo>
                    <a:pt x="0" y="0"/>
                  </a:lnTo>
                  <a:lnTo>
                    <a:pt x="2213408" y="0"/>
                  </a:lnTo>
                  <a:lnTo>
                    <a:pt x="2213408" y="731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Future</a:t>
            </a:r>
            <a:r>
              <a:rPr spc="-40" dirty="0"/>
              <a:t> </a:t>
            </a:r>
            <a:r>
              <a:rPr spc="-10" dirty="0"/>
              <a:t>Scope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33400" y="1447800"/>
            <a:ext cx="8895080" cy="42828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8450" marR="88265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Limitations: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Token-level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F1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penalizes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grammatically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natural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answers;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SQuAD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chemeClr val="tx1"/>
                </a:solidFill>
                <a:latin typeface="Times New Roman"/>
                <a:cs typeface="Times New Roman"/>
              </a:rPr>
              <a:t>is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purely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extractive;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SQuAD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subset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limits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statistical</a:t>
            </a:r>
            <a:r>
              <a:rPr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power</a:t>
            </a:r>
            <a:r>
              <a:rPr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88265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Future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Evaluations: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Scaling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to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full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SQuAD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dataset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and</a:t>
            </a:r>
            <a:r>
              <a:rPr spc="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multi-domain</a:t>
            </a:r>
            <a:r>
              <a:rPr spc="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tx1"/>
                </a:solidFill>
                <a:latin typeface="Times New Roman"/>
                <a:cs typeface="Times New Roman"/>
              </a:rPr>
              <a:t>benchmarks </a:t>
            </a:r>
            <a:r>
              <a:rPr dirty="0">
                <a:solidFill>
                  <a:schemeClr val="tx1"/>
                </a:solidFill>
                <a:latin typeface="Times New Roman"/>
                <a:cs typeface="Times New Roman"/>
              </a:rPr>
              <a:t>(TriviaQA,</a:t>
            </a:r>
            <a:r>
              <a:rPr spc="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HotpotQA</a:t>
            </a:r>
            <a:r>
              <a:rPr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).</a:t>
            </a:r>
            <a:endParaRPr lang="en-US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buFont typeface="Arial" panose="020B0604020202020204" pitchFamily="34" charset="0"/>
              <a:buChar char="•"/>
            </a:pPr>
            <a:endParaRPr lang="en-US" spc="-10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Future Metrics: Incorporating semantic similarity metrics (</a:t>
            </a:r>
            <a:r>
              <a:rPr lang="en-US" dirty="0" err="1" smtClean="0">
                <a:solidFill>
                  <a:schemeClr val="tx1"/>
                </a:solidFill>
                <a:latin typeface="Times New Roman"/>
                <a:cs typeface="Times New Roman"/>
              </a:rPr>
              <a:t>BERTScore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) and </a:t>
            </a:r>
            <a:r>
              <a:rPr lang="en-US" spc="-20" dirty="0" smtClean="0">
                <a:solidFill>
                  <a:schemeClr val="tx1"/>
                </a:solidFill>
                <a:latin typeface="Times New Roman"/>
                <a:cs typeface="Times New Roman"/>
              </a:rPr>
              <a:t>LLM-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as-</a:t>
            </a:r>
            <a:r>
              <a:rPr lang="en-US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a-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judge</a:t>
            </a:r>
            <a:r>
              <a:rPr lang="en-US" spc="4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evaluations</a:t>
            </a:r>
            <a:r>
              <a:rPr lang="en-US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</a:p>
          <a:p>
            <a:pPr marL="298450" marR="5080" indent="-285750">
              <a:lnSpc>
                <a:spcPct val="1518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305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Future</a:t>
            </a:r>
            <a:r>
              <a:rPr lang="en-US" spc="1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Architectures:</a:t>
            </a:r>
            <a:r>
              <a:rPr lang="en-US" spc="2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Exploring</a:t>
            </a:r>
            <a:r>
              <a:rPr lang="en-US" spc="1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semantic</a:t>
            </a:r>
            <a:r>
              <a:rPr lang="en-US" spc="2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chunking</a:t>
            </a:r>
            <a:r>
              <a:rPr lang="en-US" spc="1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and</a:t>
            </a:r>
            <a:r>
              <a:rPr lang="en-US" spc="2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adaptive</a:t>
            </a:r>
            <a:r>
              <a:rPr lang="en-US" spc="2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/>
                <a:cs typeface="Times New Roman"/>
              </a:rPr>
              <a:t>retrieval</a:t>
            </a:r>
            <a:r>
              <a:rPr lang="en-US" spc="1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policies.</a:t>
            </a:r>
            <a:endParaRPr lang="en-US" dirty="0" smtClean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754279" cy="7315447"/>
            <a:chOff x="0" y="0"/>
            <a:chExt cx="9754279" cy="7315447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752965" cy="894080"/>
            </a:xfrm>
            <a:custGeom>
              <a:avLst/>
              <a:gdLst/>
              <a:ahLst/>
              <a:cxnLst/>
              <a:rect l="l" t="t" r="r" b="b"/>
              <a:pathLst>
                <a:path w="9752965" h="894080">
                  <a:moveTo>
                    <a:pt x="9752466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9752466" y="0"/>
                  </a:lnTo>
                  <a:lnTo>
                    <a:pt x="9752466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7151617"/>
              <a:ext cx="9753600" cy="163830"/>
            </a:xfrm>
            <a:custGeom>
              <a:avLst/>
              <a:gdLst/>
              <a:ahLst/>
              <a:cxnLst/>
              <a:rect l="l" t="t" r="r" b="b"/>
              <a:pathLst>
                <a:path w="9753600" h="163829">
                  <a:moveTo>
                    <a:pt x="9753218" y="163582"/>
                  </a:moveTo>
                  <a:lnTo>
                    <a:pt x="0" y="163582"/>
                  </a:lnTo>
                  <a:lnTo>
                    <a:pt x="0" y="0"/>
                  </a:lnTo>
                  <a:lnTo>
                    <a:pt x="9753218" y="0"/>
                  </a:lnTo>
                  <a:lnTo>
                    <a:pt x="9753218" y="1635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56419" y="0"/>
              <a:ext cx="3197860" cy="894080"/>
            </a:xfrm>
            <a:custGeom>
              <a:avLst/>
              <a:gdLst/>
              <a:ahLst/>
              <a:cxnLst/>
              <a:rect l="l" t="t" r="r" b="b"/>
              <a:pathLst>
                <a:path w="3197859" h="894080">
                  <a:moveTo>
                    <a:pt x="3197301" y="893568"/>
                  </a:moveTo>
                  <a:lnTo>
                    <a:pt x="0" y="893568"/>
                  </a:lnTo>
                  <a:lnTo>
                    <a:pt x="0" y="0"/>
                  </a:lnTo>
                  <a:lnTo>
                    <a:pt x="3197301" y="0"/>
                  </a:lnTo>
                  <a:lnTo>
                    <a:pt x="3197301" y="89356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9950" y="243840"/>
              <a:ext cx="2194178" cy="6770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63070" y="203139"/>
              <a:ext cx="2213610" cy="731520"/>
            </a:xfrm>
            <a:custGeom>
              <a:avLst/>
              <a:gdLst/>
              <a:ahLst/>
              <a:cxnLst/>
              <a:rect l="l" t="t" r="r" b="b"/>
              <a:pathLst>
                <a:path w="2213609" h="731519">
                  <a:moveTo>
                    <a:pt x="2213408" y="731138"/>
                  </a:moveTo>
                  <a:lnTo>
                    <a:pt x="0" y="731138"/>
                  </a:lnTo>
                  <a:lnTo>
                    <a:pt x="0" y="0"/>
                  </a:lnTo>
                  <a:lnTo>
                    <a:pt x="2213408" y="0"/>
                  </a:lnTo>
                  <a:lnTo>
                    <a:pt x="2213408" y="731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9950" y="243840"/>
              <a:ext cx="2048168" cy="649652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6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08019" y="3395676"/>
            <a:ext cx="3336925" cy="903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750" dirty="0"/>
              <a:t>Thank</a:t>
            </a:r>
            <a:r>
              <a:rPr sz="5750" spc="-20" dirty="0"/>
              <a:t> </a:t>
            </a:r>
            <a:r>
              <a:rPr sz="5750" spc="-25" dirty="0"/>
              <a:t>You</a:t>
            </a:r>
            <a:endParaRPr sz="5750" dirty="0"/>
          </a:p>
        </p:txBody>
      </p:sp>
    </p:spTree>
    <p:extLst>
      <p:ext uri="{BB962C8B-B14F-4D97-AF65-F5344CB8AC3E}">
        <p14:creationId xmlns:p14="http://schemas.microsoft.com/office/powerpoint/2010/main" val="247570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700</Words>
  <Application>Microsoft Office PowerPoint</Application>
  <PresentationFormat>Custom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Google Sans Text</vt:lpstr>
      <vt:lpstr>Times New Roman</vt:lpstr>
      <vt:lpstr>Office Theme</vt:lpstr>
      <vt:lpstr>PowerPoint Presentation</vt:lpstr>
      <vt:lpstr>Introduction</vt:lpstr>
      <vt:lpstr>Problem Statement</vt:lpstr>
      <vt:lpstr>Objective</vt:lpstr>
      <vt:lpstr>Experimental Setup</vt:lpstr>
      <vt:lpstr>Core Results: Chunk and Top-k</vt:lpstr>
      <vt:lpstr>Prompt and Reranking Effects</vt:lpstr>
      <vt:lpstr>Noise and Context Effects</vt:lpstr>
      <vt:lpstr>Gemma vs LLaMA Pilot Comparison</vt:lpstr>
      <vt:lpstr>Practical Recommendations</vt:lpstr>
      <vt:lpstr>Conclusion and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of CO-OP Project at Industry (Module-2) (22CS421) On RAG Design: Chunking, Retrieval and Prompting Team Members: Abhinav Sharma (&lt;ROLL_NO_1&gt;), Lakshay Kumar (&lt;ROLL_NO_2&gt;) Sneha Sharma (&lt;ROLL_NO_3&gt;), Paras Kapoor (&lt;ROLL_NO_4&gt;)</dc:title>
  <dc:creator>536 Lakshay Kumar</dc:creator>
  <cp:keywords>DAHIMjAPWsc,BAF27h_0rv4,0</cp:keywords>
  <cp:lastModifiedBy>dell</cp:lastModifiedBy>
  <cp:revision>10</cp:revision>
  <dcterms:created xsi:type="dcterms:W3CDTF">2026-05-16T16:30:22Z</dcterms:created>
  <dcterms:modified xsi:type="dcterms:W3CDTF">2026-05-17T13:15:52Z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2026-04-29T00:00:00Z</vt:filetime>
  </property>
  <property fmtid="{D5CDD505-2E9C-101B-9397-08002B2CF9AE}" pid="4" name="Creator">
    <vt:lpwstr>Canva</vt:lpwstr>
  </property>
  <property fmtid="{D5CDD505-2E9C-101B-9397-08002B2CF9AE}" pid="5" name="LastSaved">
    <vt:filetime>2026-05-16T00:00:00Z</vt:filetime>
  </property>
  <property fmtid="{D5CDD505-2E9C-101B-9397-08002B2CF9AE}" pid="6" name="Producer">
    <vt:lpwstr>Canva</vt:lpwstr>
  </property>
</Properties>
</file>